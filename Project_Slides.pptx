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8820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937579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81172826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115188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622435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361838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277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8630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Open with the one-sentence intuition: a single robot drives around a field of crop plots, looks at each plot, and reports its condition. Then say we modelled it at two levels - classical PDDL for routing, and PDDL+ where the crops degrade over time on their own. Keep it conversational, don't read.</a:t>
            </a:r>
            <a:endParaRPr lang="en-US"/>
          </a:p>
        </p:txBody>
      </p:sp>
      <p:sp>
        <p:nvSpPr>
          <p:cNvPr id="1282302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1555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Give the intuition, don't list. Plots are where crops grow; junctions are just road intersections the robot passes through. Inspect needs the robot physically there; report can be logged afterwards. End on the key twist: crops degrade on their own - that's what makes the PDDL+ version interesting.</a:t>
            </a:r>
            <a:endParaRPr lang="en-US"/>
          </a:p>
        </p:txBody>
      </p:sp>
      <p:sp>
        <p:nvSpPr>
          <p:cNvPr id="216719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472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05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This is the spine of the whole talk. Q1 = a map problem, find the shortest tour. Q2 = a race, because crops are dying on a clock. Everything technical I show next maps back to these two columns.</a:t>
            </a:r>
            <a:endParaRPr lang="en-US"/>
          </a:p>
        </p:txBody>
      </p:sp>
      <p:sp>
        <p:nvSpPr>
          <p:cNvPr id="443251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194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38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Walk the hierarchy: node splits into plot and junction so one move action covers all travel. Predicates are deliberately simple. Stress two modelling choices: inspect is passive (monitoring observes, never intervenes), and report is decoupled from position - it only needs the plot inspected, and the robot not moving. Cost lives only on move, which turns Q1 into routing.</a:t>
            </a:r>
            <a:endParaRPr lang="en-US"/>
          </a:p>
        </p:txBody>
      </p:sp>
      <p:sp>
        <p:nvSpPr>
          <p:cNvPr id="203605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321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6132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This is the technical heart. Numeric fluents hold continuous quantities classical predicates can't. The single degrade process is the autonomous dynamics - * #t means change per unit time. The crop-fails event is the threshold reaction. Emphasise the interaction box: process = slow continuous drain, event = instant reaction at the threshold, robot must beat it.</a:t>
            </a:r>
            <a:endParaRPr lang="en-US"/>
          </a:p>
        </p:txBody>
      </p:sp>
      <p:sp>
        <p:nvSpPr>
          <p:cNvPr id="1789151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969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454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This is the slide to slow down on - it's the most novel modelling decision and examiners love it. ENHSP rejects :durative-action, so I rebuilt duration from primitives: a start action flips a flag, a process counts time with #t, and an event fires at the threshold to finish the action. Report uses the exact same three-part pattern at 0.2 seconds.</a:t>
            </a:r>
            <a:endParaRPr lang="en-US"/>
          </a:p>
        </p:txBody>
      </p:sp>
      <p:sp>
        <p:nvSpPr>
          <p:cNvPr id="1822074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882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4557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Set up the demo here. Tell them the planner only prints a list of timed actions, which is hard to read, so the GIFs visualise it. Walk the legend once. Flag Q2-P2 as the one to watch. Then switch to VS Code, run a problem live, and play the animations on the next slides.</a:t>
            </a:r>
            <a:endParaRPr lang="en-US"/>
          </a:p>
        </p:txBody>
      </p:sp>
      <p:sp>
        <p:nvSpPr>
          <p:cNvPr id="541167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756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7057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Play this first. Point out the move-inspect-report rhythm and the rings filling in. No urgency here - it just proves the model works. The route isn't minimal because no metric is set; that's what Problem 2 fixes.</a:t>
            </a:r>
            <a:endParaRPr lang="en-US"/>
          </a:p>
        </p:txBody>
      </p:sp>
      <p:sp>
        <p:nvSpPr>
          <p:cNvPr id="1176439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670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747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Play this first. Point out the move-inspect-report rhythm and the rings filling in. No urgency here - it just proves the model works. The route isn't minimal because no metric is set; that's what Problem 2 fixes.</a:t>
            </a:r>
            <a:endParaRPr lang="en-US"/>
          </a:p>
        </p:txBody>
      </p:sp>
      <p:sp>
        <p:nvSpPr>
          <p:cNvPr id="1380862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EA1AF0-D02E-49CA-DA9E-FE23384E33DE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850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705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Play this first. Point out the move-inspect-report rhythm and the rings filling in. No urgency here - it just proves the model works. The route isn't minimal because no metric is set; that's what Problem 2 fixes.</a:t>
            </a:r>
            <a:endParaRPr lang="en-US"/>
          </a:p>
        </p:txBody>
      </p:sp>
      <p:sp>
        <p:nvSpPr>
          <p:cNvPr id="1342700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735E3-9A75-605D-2180-D7CD4CDE27A7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526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771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Play this first. Point out the move-inspect-report rhythm and the rings filling in. No urgency here - it just proves the model works. The route isn't minimal because no metric is set; that's what Problem 2 fixes.</a:t>
            </a:r>
            <a:endParaRPr lang="en-US"/>
          </a:p>
        </p:txBody>
      </p:sp>
      <p:sp>
        <p:nvSpPr>
          <p:cNvPr id="140471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E2E55-CC75-6BCB-6D51-03DF4EB5B749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538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6836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Close honestly. The two genuine engineering hurdles were the missing durative actions and ENHSP ignoring state-dependent cost. Biggest conceptual limit: discrete labels lose the trajectory, which is exactly why Q2 goes numeric. The most interesting extension is letting the robot intervene, which turns monitoring into a resource-and-deadline scheduling problem. Then invite questions.</a:t>
            </a:r>
            <a:endParaRPr lang="en-US"/>
          </a:p>
        </p:txBody>
      </p:sp>
      <p:sp>
        <p:nvSpPr>
          <p:cNvPr id="947783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gif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gif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gif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gif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4210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09968" name="Shape 0"/>
          <p:cNvSpPr/>
          <p:nvPr/>
        </p:nvSpPr>
        <p:spPr bwMode="auto">
          <a:xfrm>
            <a:off x="8595360" y="-2011680"/>
            <a:ext cx="6035039" cy="6035039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40239588" name="Shape 1"/>
          <p:cNvSpPr/>
          <p:nvPr/>
        </p:nvSpPr>
        <p:spPr bwMode="auto">
          <a:xfrm>
            <a:off x="10241280" y="3291840"/>
            <a:ext cx="4754880" cy="4754880"/>
          </a:xfrm>
          <a:prstGeom prst="ellipse">
            <a:avLst/>
          </a:prstGeom>
          <a:solidFill>
            <a:srgbClr val="5E8C42">
              <a:alpha val="45000"/>
            </a:srgbClr>
          </a:solidFill>
          <a:ln/>
        </p:spPr>
      </p:sp>
      <p:sp>
        <p:nvSpPr>
          <p:cNvPr id="611736203" name="Shape 2"/>
          <p:cNvSpPr/>
          <p:nvPr/>
        </p:nvSpPr>
        <p:spPr bwMode="auto">
          <a:xfrm>
            <a:off x="868680" y="1371600"/>
            <a:ext cx="914400" cy="914400"/>
          </a:xfrm>
          <a:prstGeom prst="ellipse">
            <a:avLst/>
          </a:prstGeom>
          <a:solidFill>
            <a:srgbClr val="5E8C4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653898466" name="Image 0" descr="deck/ic_se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6424" y="1609344"/>
            <a:ext cx="438912" cy="438912"/>
          </a:xfrm>
          <a:prstGeom prst="rect">
            <a:avLst/>
          </a:prstGeom>
        </p:spPr>
      </p:pic>
      <p:sp>
        <p:nvSpPr>
          <p:cNvPr id="1439359397" name="Text 3"/>
          <p:cNvSpPr/>
          <p:nvPr/>
        </p:nvSpPr>
        <p:spPr bwMode="auto">
          <a:xfrm>
            <a:off x="868680" y="25146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Agricultural Robotics</a:t>
            </a:r>
            <a:endParaRPr lang="en-US" sz="4600"/>
          </a:p>
        </p:txBody>
      </p:sp>
      <p:sp>
        <p:nvSpPr>
          <p:cNvPr id="1203788502" name="Text 4"/>
          <p:cNvSpPr/>
          <p:nvPr/>
        </p:nvSpPr>
        <p:spPr bwMode="auto">
          <a:xfrm>
            <a:off x="868680" y="33832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600" b="1">
                <a:solidFill>
                  <a:srgbClr val="97BC62"/>
                </a:solidFill>
                <a:latin typeface="Cambria"/>
                <a:ea typeface="Cambria"/>
                <a:cs typeface="Cambria"/>
              </a:rPr>
              <a:t>Crop Monitoring</a:t>
            </a:r>
            <a:endParaRPr lang="en-US" sz="4600"/>
          </a:p>
        </p:txBody>
      </p:sp>
      <p:sp>
        <p:nvSpPr>
          <p:cNvPr id="2086949522" name="Text 5"/>
          <p:cNvSpPr/>
          <p:nvPr/>
        </p:nvSpPr>
        <p:spPr bwMode="auto">
          <a:xfrm>
            <a:off x="886968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i="1">
                <a:solidFill>
                  <a:srgbClr val="CFE0BF"/>
                </a:solidFill>
                <a:latin typeface="Calibri"/>
                <a:ea typeface="Calibri"/>
                <a:cs typeface="Calibri"/>
              </a:rPr>
              <a:t>A PDDL &amp; PDDL+ planning project</a:t>
            </a:r>
            <a:endParaRPr lang="en-US" sz="1900"/>
          </a:p>
        </p:txBody>
      </p:sp>
      <p:sp>
        <p:nvSpPr>
          <p:cNvPr id="192920185" name="Text 6"/>
          <p:cNvSpPr/>
          <p:nvPr/>
        </p:nvSpPr>
        <p:spPr bwMode="auto">
          <a:xfrm>
            <a:off x="886968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Assignment D5-V1</a:t>
            </a:r>
            <a:r>
              <a:rPr lang="en-US" sz="1500">
                <a:solidFill>
                  <a:srgbClr val="AEBBA0"/>
                </a:solidFill>
                <a:latin typeface="Calibri"/>
                <a:ea typeface="Calibri"/>
                <a:cs typeface="Calibri"/>
              </a:rPr>
              <a:t>      Artificial Intelligence for Robotics II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92112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PROBLEM &amp; DOMAIN </a:t>
            </a:r>
            <a:endParaRPr lang="en-US" sz="1300"/>
          </a:p>
        </p:txBody>
      </p:sp>
      <p:sp>
        <p:nvSpPr>
          <p:cNvPr id="872156802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What we are modelling</a:t>
            </a:r>
            <a:endParaRPr lang="en-US" sz="3200"/>
          </a:p>
        </p:txBody>
      </p:sp>
      <p:sp>
        <p:nvSpPr>
          <p:cNvPr id="832006264" name="Text 2"/>
          <p:cNvSpPr/>
          <p:nvPr/>
        </p:nvSpPr>
        <p:spPr bwMode="auto">
          <a:xfrm>
            <a:off x="777240" y="1874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600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A single mobile robot patrols a field divided into </a:t>
            </a:r>
            <a:r>
              <a:rPr lang="en-US" sz="1600" b="1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plots</a:t>
            </a:r>
            <a:r>
              <a:rPr lang="en-US" sz="1600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.  For every plot it must:</a:t>
            </a:r>
            <a:endParaRPr lang="en-US" sz="1600"/>
          </a:p>
        </p:txBody>
      </p:sp>
      <p:sp>
        <p:nvSpPr>
          <p:cNvPr id="1070344292" name="Shape 3"/>
          <p:cNvSpPr/>
          <p:nvPr/>
        </p:nvSpPr>
        <p:spPr bwMode="auto">
          <a:xfrm>
            <a:off x="822960" y="2788920"/>
            <a:ext cx="566928" cy="566928"/>
          </a:xfrm>
          <a:prstGeom prst="ellipse">
            <a:avLst/>
          </a:prstGeom>
          <a:solidFill>
            <a:srgbClr val="5E8C4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195717009" name="Image 0" descr="deck/ic_rou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0361" y="2936321"/>
            <a:ext cx="272125" cy="272125"/>
          </a:xfrm>
          <a:prstGeom prst="rect">
            <a:avLst/>
          </a:prstGeom>
        </p:spPr>
      </p:pic>
      <p:sp>
        <p:nvSpPr>
          <p:cNvPr id="1348980115" name="Text 4"/>
          <p:cNvSpPr/>
          <p:nvPr/>
        </p:nvSpPr>
        <p:spPr bwMode="auto">
          <a:xfrm>
            <a:off x="1554480" y="2807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Navigate   </a:t>
            </a:r>
            <a:r>
              <a:rPr lang="en-US" sz="14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drive edge-by-edge across the field graph</a:t>
            </a:r>
            <a:endParaRPr lang="en-US" sz="1450"/>
          </a:p>
        </p:txBody>
      </p:sp>
      <p:sp>
        <p:nvSpPr>
          <p:cNvPr id="1630886933" name="Shape 5"/>
          <p:cNvSpPr/>
          <p:nvPr/>
        </p:nvSpPr>
        <p:spPr bwMode="auto">
          <a:xfrm>
            <a:off x="822960" y="3538728"/>
            <a:ext cx="566928" cy="566928"/>
          </a:xfrm>
          <a:prstGeom prst="ellipse">
            <a:avLst/>
          </a:prstGeom>
          <a:solidFill>
            <a:srgbClr val="5E8C4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114020653" name="Image 1" descr="deck/ic_inspect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0361" y="3686129"/>
            <a:ext cx="272125" cy="272125"/>
          </a:xfrm>
          <a:prstGeom prst="rect">
            <a:avLst/>
          </a:prstGeom>
        </p:spPr>
      </p:pic>
      <p:sp>
        <p:nvSpPr>
          <p:cNvPr id="278431824" name="Text 6"/>
          <p:cNvSpPr/>
          <p:nvPr/>
        </p:nvSpPr>
        <p:spPr bwMode="auto">
          <a:xfrm>
            <a:off x="1554480" y="35570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Inspect   </a:t>
            </a:r>
            <a:r>
              <a:rPr lang="en-US" sz="14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read the crop's condition (must be at the plot)</a:t>
            </a:r>
            <a:endParaRPr lang="en-US" sz="1450"/>
          </a:p>
        </p:txBody>
      </p:sp>
      <p:sp>
        <p:nvSpPr>
          <p:cNvPr id="756724142" name="Shape 7"/>
          <p:cNvSpPr/>
          <p:nvPr/>
        </p:nvSpPr>
        <p:spPr bwMode="auto">
          <a:xfrm>
            <a:off x="822960" y="4288536"/>
            <a:ext cx="566928" cy="566928"/>
          </a:xfrm>
          <a:prstGeom prst="ellipse">
            <a:avLst/>
          </a:prstGeom>
          <a:solidFill>
            <a:srgbClr val="5E8C4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508721306" name="Image 2" descr="deck/ic_report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70361" y="4435937"/>
            <a:ext cx="272125" cy="272125"/>
          </a:xfrm>
          <a:prstGeom prst="rect">
            <a:avLst/>
          </a:prstGeom>
        </p:spPr>
      </p:pic>
      <p:sp>
        <p:nvSpPr>
          <p:cNvPr id="1089509012" name="Text 8"/>
          <p:cNvSpPr/>
          <p:nvPr/>
        </p:nvSpPr>
        <p:spPr bwMode="auto">
          <a:xfrm>
            <a:off x="1554480" y="4306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Report   </a:t>
            </a:r>
            <a:r>
              <a:rPr lang="en-US" sz="14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log the observation once the plot is inspected</a:t>
            </a:r>
            <a:endParaRPr lang="en-US" sz="1450"/>
          </a:p>
        </p:txBody>
      </p:sp>
      <p:sp>
        <p:nvSpPr>
          <p:cNvPr id="1633629785" name="Text 9"/>
          <p:cNvSpPr/>
          <p:nvPr/>
        </p:nvSpPr>
        <p:spPr bwMode="auto">
          <a:xfrm>
            <a:off x="822960" y="52578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500" b="1" i="1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Key twist:  </a:t>
            </a:r>
            <a:r>
              <a:rPr lang="en-US" sz="1500" i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crop conditions change over time even with no intervention.</a:t>
            </a:r>
            <a:endParaRPr lang="en-US" sz="1500"/>
          </a:p>
        </p:txBody>
      </p:sp>
      <p:sp>
        <p:nvSpPr>
          <p:cNvPr id="108391469" name="Shape 10"/>
          <p:cNvSpPr/>
          <p:nvPr/>
        </p:nvSpPr>
        <p:spPr bwMode="auto">
          <a:xfrm>
            <a:off x="6245352" y="1856232"/>
            <a:ext cx="5705856" cy="3960183"/>
          </a:xfrm>
          <a:prstGeom prst="roundRect">
            <a:avLst>
              <a:gd name="adj" fmla="val 2309"/>
            </a:avLst>
          </a:prstGeom>
          <a:solidFill>
            <a:srgbClr val="14210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769424185" name="Image 3" descr="deck/q1_p1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355080" y="1965960"/>
            <a:ext cx="5486400" cy="3740727"/>
          </a:xfrm>
          <a:prstGeom prst="rect">
            <a:avLst/>
          </a:prstGeom>
        </p:spPr>
      </p:pic>
      <p:sp>
        <p:nvSpPr>
          <p:cNvPr id="510770557" name="Text 11"/>
          <p:cNvSpPr/>
          <p:nvPr/>
        </p:nvSpPr>
        <p:spPr bwMode="auto">
          <a:xfrm>
            <a:off x="6263640" y="5871279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i="1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Field graph - plots x1-x8 joined by routing junctions O1-O4;  robot starts at O2.</a:t>
            </a:r>
            <a:endParaRPr lang="en-US" sz="1150"/>
          </a:p>
        </p:txBody>
      </p:sp>
      <p:sp>
        <p:nvSpPr>
          <p:cNvPr id="1818454850" name="Text 12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707381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PROBLEM &amp; DOMAIN</a:t>
            </a:r>
            <a:endParaRPr lang="en-US" sz="1300"/>
          </a:p>
        </p:txBody>
      </p:sp>
      <p:sp>
        <p:nvSpPr>
          <p:cNvPr id="282957114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One scenario, two levels</a:t>
            </a:r>
            <a:endParaRPr lang="en-US" sz="3200"/>
          </a:p>
        </p:txBody>
      </p:sp>
      <p:sp>
        <p:nvSpPr>
          <p:cNvPr id="27935198" name="Shape 2"/>
          <p:cNvSpPr/>
          <p:nvPr/>
        </p:nvSpPr>
        <p:spPr bwMode="auto">
          <a:xfrm>
            <a:off x="777240" y="210312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53089088" name="Shape 3"/>
          <p:cNvSpPr/>
          <p:nvPr/>
        </p:nvSpPr>
        <p:spPr bwMode="auto">
          <a:xfrm>
            <a:off x="1051560" y="2423160"/>
            <a:ext cx="731520" cy="731520"/>
          </a:xfrm>
          <a:prstGeom prst="ellipse">
            <a:avLst/>
          </a:prstGeom>
          <a:solidFill>
            <a:srgbClr val="2C5F2D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377220639" name="Image 0" descr="deck/ic_rou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41754" y="2613355"/>
            <a:ext cx="351130" cy="351130"/>
          </a:xfrm>
          <a:prstGeom prst="rect">
            <a:avLst/>
          </a:prstGeom>
        </p:spPr>
      </p:pic>
      <p:sp>
        <p:nvSpPr>
          <p:cNvPr id="1778605299" name="Text 4"/>
          <p:cNvSpPr/>
          <p:nvPr/>
        </p:nvSpPr>
        <p:spPr bwMode="auto">
          <a:xfrm>
            <a:off x="196596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Q1</a:t>
            </a:r>
            <a:endParaRPr lang="en-US" sz="2400"/>
          </a:p>
        </p:txBody>
      </p:sp>
      <p:sp>
        <p:nvSpPr>
          <p:cNvPr id="1324592215" name="Text 5"/>
          <p:cNvSpPr/>
          <p:nvPr/>
        </p:nvSpPr>
        <p:spPr bwMode="auto">
          <a:xfrm>
            <a:off x="1965960" y="2852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Classical PDDL</a:t>
            </a:r>
            <a:endParaRPr lang="en-US" sz="1500"/>
          </a:p>
        </p:txBody>
      </p:sp>
      <p:sp>
        <p:nvSpPr>
          <p:cNvPr id="580796423" name="Text 6"/>
          <p:cNvSpPr/>
          <p:nvPr/>
        </p:nvSpPr>
        <p:spPr bwMode="auto">
          <a:xfrm>
            <a:off x="1097280" y="35204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No time.</a:t>
            </a:r>
            <a:endParaRPr lang="en-US" sz="1450"/>
          </a:p>
          <a:p>
            <a:pPr marL="0" indent="0">
              <a:lnSpc>
                <a:spcPct val="106000"/>
              </a:lnSpc>
              <a:buNone/>
              <a:defRPr/>
            </a:pPr>
            <a:r>
              <a:rPr lang="en-US" sz="14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The world only changes when the robot acts.</a:t>
            </a:r>
            <a:endParaRPr lang="en-US" sz="1450"/>
          </a:p>
          <a:p>
            <a:pPr marL="0" indent="0">
              <a:lnSpc>
                <a:spcPct val="106000"/>
              </a:lnSpc>
              <a:buNone/>
              <a:defRPr/>
            </a:pPr>
            <a:endParaRPr lang="en-US" sz="1450"/>
          </a:p>
          <a:p>
            <a:pPr marL="0" indent="0">
              <a:lnSpc>
                <a:spcPct val="106000"/>
              </a:lnSpc>
              <a:buNone/>
              <a:defRPr/>
            </a:pPr>
            <a:r>
              <a:rPr lang="en-US" sz="1450" b="1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Challenge:  </a:t>
            </a:r>
            <a:r>
              <a:rPr lang="en-US" sz="1450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visit and report every plot with the fewest moves - a routing problem.</a:t>
            </a:r>
            <a:endParaRPr lang="en-US" sz="1450"/>
          </a:p>
        </p:txBody>
      </p:sp>
      <p:sp>
        <p:nvSpPr>
          <p:cNvPr id="1093471635" name="Shape 7"/>
          <p:cNvSpPr/>
          <p:nvPr/>
        </p:nvSpPr>
        <p:spPr bwMode="auto">
          <a:xfrm>
            <a:off x="6263640" y="210312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3ECF8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64835738" name="Shape 8"/>
          <p:cNvSpPr/>
          <p:nvPr/>
        </p:nvSpPr>
        <p:spPr bwMode="auto">
          <a:xfrm>
            <a:off x="6537960" y="2423160"/>
            <a:ext cx="731520" cy="731520"/>
          </a:xfrm>
          <a:prstGeom prst="ellipse">
            <a:avLst/>
          </a:prstGeom>
          <a:solidFill>
            <a:srgbClr val="6A1B9A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727957972" name="Image 1" descr="deck/ic_cloc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28155" y="2613355"/>
            <a:ext cx="351130" cy="351130"/>
          </a:xfrm>
          <a:prstGeom prst="rect">
            <a:avLst/>
          </a:prstGeom>
        </p:spPr>
      </p:pic>
      <p:sp>
        <p:nvSpPr>
          <p:cNvPr id="1527155627" name="Text 9"/>
          <p:cNvSpPr/>
          <p:nvPr/>
        </p:nvSpPr>
        <p:spPr bwMode="auto">
          <a:xfrm>
            <a:off x="7178039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6A1B9A"/>
                </a:solidFill>
                <a:latin typeface="Cambria"/>
                <a:ea typeface="Cambria"/>
                <a:cs typeface="Cambria"/>
              </a:rPr>
              <a:t>Q2</a:t>
            </a:r>
            <a:endParaRPr lang="en-US" sz="2400"/>
          </a:p>
        </p:txBody>
      </p:sp>
      <p:sp>
        <p:nvSpPr>
          <p:cNvPr id="1576280151" name="Text 10"/>
          <p:cNvSpPr/>
          <p:nvPr/>
        </p:nvSpPr>
        <p:spPr bwMode="auto">
          <a:xfrm>
            <a:off x="7178039" y="2852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6B5B73"/>
                </a:solidFill>
                <a:latin typeface="Calibri"/>
                <a:ea typeface="Calibri"/>
                <a:cs typeface="Calibri"/>
              </a:rPr>
              <a:t>PDDL+  (processes + events)</a:t>
            </a:r>
            <a:endParaRPr lang="en-US" sz="1500"/>
          </a:p>
        </p:txBody>
      </p:sp>
      <p:sp>
        <p:nvSpPr>
          <p:cNvPr id="1695842921" name="Text 11"/>
          <p:cNvSpPr/>
          <p:nvPr/>
        </p:nvSpPr>
        <p:spPr bwMode="auto">
          <a:xfrm>
            <a:off x="6583680" y="35204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Continuous time.</a:t>
            </a:r>
            <a:endParaRPr lang="en-US" sz="1450"/>
          </a:p>
          <a:p>
            <a:pPr marL="0" indent="0">
              <a:lnSpc>
                <a:spcPct val="106000"/>
              </a:lnSpc>
              <a:buNone/>
              <a:defRPr/>
            </a:pPr>
            <a:r>
              <a:rPr lang="en-US" sz="1450">
                <a:solidFill>
                  <a:srgbClr val="5B4E62"/>
                </a:solidFill>
                <a:latin typeface="Calibri"/>
                <a:ea typeface="Calibri"/>
                <a:cs typeface="Calibri"/>
              </a:rPr>
              <a:t>Crops degrade autonomously - doing nothing has a cost.</a:t>
            </a:r>
            <a:endParaRPr lang="en-US" sz="1450"/>
          </a:p>
          <a:p>
            <a:pPr marL="0" indent="0">
              <a:lnSpc>
                <a:spcPct val="106000"/>
              </a:lnSpc>
              <a:buNone/>
              <a:defRPr/>
            </a:pPr>
            <a:endParaRPr lang="en-US" sz="1450"/>
          </a:p>
          <a:p>
            <a:pPr marL="0" indent="0">
              <a:lnSpc>
                <a:spcPct val="106000"/>
              </a:lnSpc>
              <a:buNone/>
              <a:defRPr/>
            </a:pPr>
            <a:r>
              <a:rPr lang="en-US" sz="1450" b="1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Challenge:  </a:t>
            </a:r>
            <a:r>
              <a:rPr lang="en-US" sz="1450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inspect every plot before its crop crosses the failure threshold.</a:t>
            </a:r>
            <a:endParaRPr lang="en-US" sz="1450"/>
          </a:p>
        </p:txBody>
      </p:sp>
      <p:sp>
        <p:nvSpPr>
          <p:cNvPr id="477958180" name="Text 12"/>
          <p:cNvSpPr/>
          <p:nvPr/>
        </p:nvSpPr>
        <p:spPr bwMode="auto"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i="1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The jump from Q1 to Q2 is </a:t>
            </a:r>
            <a:r>
              <a:rPr lang="en-US" sz="1500" b="1" i="1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time</a:t>
            </a:r>
            <a:r>
              <a:rPr lang="en-US" sz="1500" i="1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:  in Q1 the field is static; in Q2 it evolves while the robot works.</a:t>
            </a:r>
            <a:endParaRPr lang="en-US" sz="1500"/>
          </a:p>
        </p:txBody>
      </p:sp>
      <p:sp>
        <p:nvSpPr>
          <p:cNvPr id="545130808" name="Text 13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929568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DESIGN CHOICES  -</a:t>
            </a:r>
            <a:endParaRPr lang="en-US" sz="1300"/>
          </a:p>
        </p:txBody>
      </p:sp>
      <p:sp>
        <p:nvSpPr>
          <p:cNvPr id="1671311519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Shared structure: types, predicates, actions</a:t>
            </a:r>
            <a:endParaRPr lang="en-US" sz="3200"/>
          </a:p>
        </p:txBody>
      </p:sp>
      <p:sp>
        <p:nvSpPr>
          <p:cNvPr id="963698266" name="Shape 2"/>
          <p:cNvSpPr/>
          <p:nvPr/>
        </p:nvSpPr>
        <p:spPr bwMode="auto">
          <a:xfrm>
            <a:off x="777240" y="1874520"/>
            <a:ext cx="3886200" cy="4727864"/>
          </a:xfrm>
          <a:prstGeom prst="roundRect">
            <a:avLst>
              <a:gd name="adj" fmla="val 2353"/>
            </a:avLst>
          </a:prstGeom>
          <a:solidFill>
            <a:srgbClr val="14210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011115856" name="Image 0" descr="deck/Heriracy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" y="1965960"/>
            <a:ext cx="3703320" cy="4544984"/>
          </a:xfrm>
          <a:prstGeom prst="rect">
            <a:avLst/>
          </a:prstGeom>
        </p:spPr>
      </p:pic>
      <p:sp>
        <p:nvSpPr>
          <p:cNvPr id="498948341" name="Text 3"/>
          <p:cNvSpPr/>
          <p:nvPr/>
        </p:nvSpPr>
        <p:spPr bwMode="auto">
          <a:xfrm>
            <a:off x="777240" y="66572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Type hierarchy</a:t>
            </a:r>
            <a:endParaRPr lang="en-US" sz="1200"/>
          </a:p>
        </p:txBody>
      </p:sp>
      <p:sp>
        <p:nvSpPr>
          <p:cNvPr id="662685141" name="Text 4"/>
          <p:cNvSpPr/>
          <p:nvPr/>
        </p:nvSpPr>
        <p:spPr bwMode="auto">
          <a:xfrm>
            <a:off x="5212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Core predicates</a:t>
            </a:r>
            <a:endParaRPr lang="en-US" sz="1700"/>
          </a:p>
        </p:txBody>
      </p:sp>
      <p:sp>
        <p:nvSpPr>
          <p:cNvPr id="387335271" name="Text 5"/>
          <p:cNvSpPr/>
          <p:nvPr/>
        </p:nvSpPr>
        <p:spPr bwMode="auto">
          <a:xfrm>
            <a:off x="5212080" y="22860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robot-at </a:t>
            </a:r>
            <a:r>
              <a:rPr lang="en-US" sz="13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position  </a:t>
            </a:r>
            <a:r>
              <a:rPr lang="en-US" sz="13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connected </a:t>
            </a:r>
            <a:r>
              <a:rPr lang="en-US" sz="13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edges  </a:t>
            </a:r>
            <a:r>
              <a:rPr lang="en-US" sz="13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crop-condition </a:t>
            </a:r>
            <a:r>
              <a:rPr lang="en-US" sz="13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state</a:t>
            </a:r>
            <a:endParaRPr lang="en-US" sz="1350"/>
          </a:p>
        </p:txBody>
      </p:sp>
      <p:sp>
        <p:nvSpPr>
          <p:cNvPr id="854133962" name="Text 6"/>
          <p:cNvSpPr/>
          <p:nvPr/>
        </p:nvSpPr>
        <p:spPr bwMode="auto">
          <a:xfrm>
            <a:off x="5212080" y="27432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inspected </a:t>
            </a:r>
            <a:r>
              <a:rPr lang="en-US" sz="13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observed   </a:t>
            </a:r>
            <a:r>
              <a:rPr lang="en-US" sz="13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reported </a:t>
            </a:r>
            <a:r>
              <a:rPr lang="en-US" sz="13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logged</a:t>
            </a:r>
            <a:endParaRPr lang="en-US" sz="1350"/>
          </a:p>
        </p:txBody>
      </p:sp>
      <p:sp>
        <p:nvSpPr>
          <p:cNvPr id="499198923" name="Text 7"/>
          <p:cNvSpPr/>
          <p:nvPr/>
        </p:nvSpPr>
        <p:spPr bwMode="auto">
          <a:xfrm>
            <a:off x="521208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Three Q1 actions</a:t>
            </a:r>
            <a:endParaRPr lang="en-US" sz="1700"/>
          </a:p>
        </p:txBody>
      </p:sp>
      <p:sp>
        <p:nvSpPr>
          <p:cNvPr id="940516006" name="Shape 8"/>
          <p:cNvSpPr/>
          <p:nvPr/>
        </p:nvSpPr>
        <p:spPr bwMode="auto">
          <a:xfrm>
            <a:off x="5212080" y="3794760"/>
            <a:ext cx="6172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99183602" name="Text 9"/>
          <p:cNvSpPr/>
          <p:nvPr/>
        </p:nvSpPr>
        <p:spPr bwMode="auto">
          <a:xfrm>
            <a:off x="5376672" y="379476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C5F2D"/>
                </a:solidFill>
                <a:latin typeface="Courier New"/>
                <a:ea typeface="Courier New"/>
                <a:cs typeface="Courier New"/>
              </a:rPr>
              <a:t>move</a:t>
            </a:r>
            <a:endParaRPr lang="en-US" sz="1400"/>
          </a:p>
        </p:txBody>
      </p:sp>
      <p:sp>
        <p:nvSpPr>
          <p:cNvPr id="1145968220" name="Text 10"/>
          <p:cNvSpPr/>
          <p:nvPr/>
        </p:nvSpPr>
        <p:spPr bwMode="auto">
          <a:xfrm>
            <a:off x="6629400" y="379476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traverse an edge  -  the only thing that costs (+1)</a:t>
            </a:r>
            <a:endParaRPr lang="en-US" sz="1250"/>
          </a:p>
        </p:txBody>
      </p:sp>
      <p:sp>
        <p:nvSpPr>
          <p:cNvPr id="652971047" name="Shape 11"/>
          <p:cNvSpPr/>
          <p:nvPr/>
        </p:nvSpPr>
        <p:spPr bwMode="auto">
          <a:xfrm>
            <a:off x="5212080" y="4507992"/>
            <a:ext cx="6172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833362322" name="Text 12"/>
          <p:cNvSpPr/>
          <p:nvPr/>
        </p:nvSpPr>
        <p:spPr bwMode="auto">
          <a:xfrm>
            <a:off x="5376672" y="450799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C5F2D"/>
                </a:solidFill>
                <a:latin typeface="Courier New"/>
                <a:ea typeface="Courier New"/>
                <a:cs typeface="Courier New"/>
              </a:rPr>
              <a:t>inspect</a:t>
            </a:r>
            <a:endParaRPr lang="en-US" sz="1400"/>
          </a:p>
        </p:txBody>
      </p:sp>
      <p:sp>
        <p:nvSpPr>
          <p:cNvPr id="705752400" name="Text 13"/>
          <p:cNvSpPr/>
          <p:nvPr/>
        </p:nvSpPr>
        <p:spPr bwMode="auto">
          <a:xfrm>
            <a:off x="6629400" y="4507992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read the crop  -  passive, never changes it</a:t>
            </a:r>
            <a:endParaRPr lang="en-US" sz="1250"/>
          </a:p>
        </p:txBody>
      </p:sp>
      <p:sp>
        <p:nvSpPr>
          <p:cNvPr id="1118305413" name="Shape 14"/>
          <p:cNvSpPr/>
          <p:nvPr/>
        </p:nvSpPr>
        <p:spPr bwMode="auto">
          <a:xfrm>
            <a:off x="5212080" y="5221224"/>
            <a:ext cx="6172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43439615" name="Text 15"/>
          <p:cNvSpPr/>
          <p:nvPr/>
        </p:nvSpPr>
        <p:spPr bwMode="auto">
          <a:xfrm>
            <a:off x="5376672" y="52212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C5F2D"/>
                </a:solidFill>
                <a:latin typeface="Courier New"/>
                <a:ea typeface="Courier New"/>
                <a:cs typeface="Courier New"/>
              </a:rPr>
              <a:t>report</a:t>
            </a:r>
            <a:endParaRPr lang="en-US" sz="1400"/>
          </a:p>
        </p:txBody>
      </p:sp>
      <p:sp>
        <p:nvSpPr>
          <p:cNvPr id="271179829" name="Text 16"/>
          <p:cNvSpPr/>
          <p:nvPr/>
        </p:nvSpPr>
        <p:spPr bwMode="auto">
          <a:xfrm>
            <a:off x="6629400" y="5221224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log a reading  -  needs inspected, not co-location</a:t>
            </a:r>
            <a:endParaRPr lang="en-US" sz="1250"/>
          </a:p>
        </p:txBody>
      </p:sp>
      <p:sp>
        <p:nvSpPr>
          <p:cNvPr id="1431809102" name="Text 17"/>
          <p:cNvSpPr/>
          <p:nvPr/>
        </p:nvSpPr>
        <p:spPr bwMode="auto">
          <a:xfrm>
            <a:off x="5212080" y="5989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250" b="1" i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Why split plot vs. junction?  </a:t>
            </a:r>
            <a:r>
              <a:rPr lang="en-US" sz="1250" i="1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move works on any node, but only plots can be inspected - no duplicated actions.</a:t>
            </a:r>
            <a:endParaRPr lang="en-US" sz="1250"/>
          </a:p>
        </p:txBody>
      </p:sp>
      <p:sp>
        <p:nvSpPr>
          <p:cNvPr id="1670158948" name="Text 18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006502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DESIGN CHOICES  -  PDDL+</a:t>
            </a:r>
            <a:endParaRPr lang="en-US" sz="1300"/>
          </a:p>
        </p:txBody>
      </p:sp>
      <p:sp>
        <p:nvSpPr>
          <p:cNvPr id="1146068855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Q2: numeric fluents, a process, an event</a:t>
            </a:r>
            <a:endParaRPr lang="en-US" sz="3200"/>
          </a:p>
        </p:txBody>
      </p:sp>
      <p:sp>
        <p:nvSpPr>
          <p:cNvPr id="1565671380" name="Shape 2"/>
          <p:cNvSpPr/>
          <p:nvPr/>
        </p:nvSpPr>
        <p:spPr bwMode="auto">
          <a:xfrm>
            <a:off x="777240" y="2011680"/>
            <a:ext cx="3529584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09231185" name="Shape 3"/>
          <p:cNvSpPr/>
          <p:nvPr/>
        </p:nvSpPr>
        <p:spPr bwMode="auto">
          <a:xfrm>
            <a:off x="1033272" y="2267712"/>
            <a:ext cx="640080" cy="640080"/>
          </a:xfrm>
          <a:prstGeom prst="ellipse">
            <a:avLst/>
          </a:prstGeom>
          <a:solidFill>
            <a:srgbClr val="6A1B9A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314794420" name="Image 0" descr="deck/ic_bol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99693" y="2434132"/>
            <a:ext cx="307238" cy="307238"/>
          </a:xfrm>
          <a:prstGeom prst="rect">
            <a:avLst/>
          </a:prstGeom>
        </p:spPr>
      </p:pic>
      <p:sp>
        <p:nvSpPr>
          <p:cNvPr id="56831490" name="Text 4"/>
          <p:cNvSpPr/>
          <p:nvPr/>
        </p:nvSpPr>
        <p:spPr bwMode="auto">
          <a:xfrm>
            <a:off x="1764792" y="2286000"/>
            <a:ext cx="24323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Numeric fluents</a:t>
            </a:r>
            <a:endParaRPr lang="en-US" sz="1550"/>
          </a:p>
        </p:txBody>
      </p:sp>
      <p:sp>
        <p:nvSpPr>
          <p:cNvPr id="284657087" name="Text 5"/>
          <p:cNvSpPr/>
          <p:nvPr/>
        </p:nvSpPr>
        <p:spPr bwMode="auto">
          <a:xfrm>
            <a:off x="1051560" y="309067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A1B9A"/>
                </a:solidFill>
                <a:latin typeface="Courier New"/>
                <a:ea typeface="Courier New"/>
                <a:cs typeface="Courier New"/>
              </a:rPr>
              <a:t>condition-level</a:t>
            </a:r>
            <a:endParaRPr lang="en-US" sz="1200"/>
          </a:p>
        </p:txBody>
      </p:sp>
      <p:sp>
        <p:nvSpPr>
          <p:cNvPr id="1329028300" name="Text 6"/>
          <p:cNvSpPr/>
          <p:nvPr/>
        </p:nvSpPr>
        <p:spPr bwMode="auto">
          <a:xfrm>
            <a:off x="1051560" y="333756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crop health, falling over time</a:t>
            </a:r>
            <a:endParaRPr lang="en-US" sz="1150"/>
          </a:p>
        </p:txBody>
      </p:sp>
      <p:sp>
        <p:nvSpPr>
          <p:cNvPr id="1796460819" name="Text 7"/>
          <p:cNvSpPr/>
          <p:nvPr/>
        </p:nvSpPr>
        <p:spPr bwMode="auto">
          <a:xfrm>
            <a:off x="1051560" y="365760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A1B9A"/>
                </a:solidFill>
                <a:latin typeface="Courier New"/>
                <a:ea typeface="Courier New"/>
                <a:cs typeface="Courier New"/>
              </a:rPr>
              <a:t>degrade-rate</a:t>
            </a:r>
            <a:endParaRPr lang="en-US" sz="1200"/>
          </a:p>
        </p:txBody>
      </p:sp>
      <p:sp>
        <p:nvSpPr>
          <p:cNvPr id="812433237" name="Text 8"/>
          <p:cNvSpPr/>
          <p:nvPr/>
        </p:nvSpPr>
        <p:spPr bwMode="auto">
          <a:xfrm>
            <a:off x="1051560" y="390448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how fast each plot declines</a:t>
            </a:r>
            <a:endParaRPr lang="en-US" sz="1150"/>
          </a:p>
        </p:txBody>
      </p:sp>
      <p:sp>
        <p:nvSpPr>
          <p:cNvPr id="1543552058" name="Text 9"/>
          <p:cNvSpPr/>
          <p:nvPr/>
        </p:nvSpPr>
        <p:spPr bwMode="auto">
          <a:xfrm>
            <a:off x="1051560" y="422452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6A1B9A"/>
                </a:solidFill>
                <a:latin typeface="Courier New"/>
                <a:ea typeface="Courier New"/>
                <a:cs typeface="Courier New"/>
              </a:rPr>
              <a:t>move-timer / report-timer</a:t>
            </a:r>
            <a:endParaRPr lang="en-US" sz="1200"/>
          </a:p>
        </p:txBody>
      </p:sp>
      <p:sp>
        <p:nvSpPr>
          <p:cNvPr id="1111884553" name="Text 10"/>
          <p:cNvSpPr/>
          <p:nvPr/>
        </p:nvSpPr>
        <p:spPr bwMode="auto">
          <a:xfrm>
            <a:off x="1051560" y="447141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drive action durations</a:t>
            </a:r>
            <a:endParaRPr lang="en-US" sz="1150"/>
          </a:p>
        </p:txBody>
      </p:sp>
      <p:sp>
        <p:nvSpPr>
          <p:cNvPr id="1467000546" name="Shape 11"/>
          <p:cNvSpPr/>
          <p:nvPr/>
        </p:nvSpPr>
        <p:spPr bwMode="auto">
          <a:xfrm>
            <a:off x="4617720" y="2011680"/>
            <a:ext cx="3529584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0559793" name="Shape 12"/>
          <p:cNvSpPr/>
          <p:nvPr/>
        </p:nvSpPr>
        <p:spPr bwMode="auto">
          <a:xfrm>
            <a:off x="4873752" y="2267712"/>
            <a:ext cx="640080" cy="640080"/>
          </a:xfrm>
          <a:prstGeom prst="ellipse">
            <a:avLst/>
          </a:prstGeom>
          <a:solidFill>
            <a:srgbClr val="9C4DCC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198931623" name="Image 1" descr="deck/ic_proc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40173" y="2434132"/>
            <a:ext cx="307238" cy="307238"/>
          </a:xfrm>
          <a:prstGeom prst="rect">
            <a:avLst/>
          </a:prstGeom>
        </p:spPr>
      </p:pic>
      <p:sp>
        <p:nvSpPr>
          <p:cNvPr id="712309206" name="Text 13"/>
          <p:cNvSpPr/>
          <p:nvPr/>
        </p:nvSpPr>
        <p:spPr bwMode="auto">
          <a:xfrm>
            <a:off x="5605272" y="2286000"/>
            <a:ext cx="24323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The degrade process</a:t>
            </a:r>
            <a:endParaRPr lang="en-US" sz="1550"/>
          </a:p>
        </p:txBody>
      </p:sp>
      <p:sp>
        <p:nvSpPr>
          <p:cNvPr id="802974226" name="Text 14"/>
          <p:cNvSpPr/>
          <p:nvPr/>
        </p:nvSpPr>
        <p:spPr bwMode="auto">
          <a:xfrm>
            <a:off x="4892039" y="309067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9C4DCC"/>
                </a:solidFill>
                <a:latin typeface="Courier New"/>
                <a:ea typeface="Courier New"/>
                <a:cs typeface="Courier New"/>
              </a:rPr>
              <a:t>runs while</a:t>
            </a:r>
            <a:endParaRPr lang="en-US" sz="1200"/>
          </a:p>
        </p:txBody>
      </p:sp>
      <p:sp>
        <p:nvSpPr>
          <p:cNvPr id="277564749" name="Text 15"/>
          <p:cNvSpPr/>
          <p:nvPr/>
        </p:nvSpPr>
        <p:spPr bwMode="auto">
          <a:xfrm>
            <a:off x="4892039" y="333756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condition-level &gt; 0</a:t>
            </a:r>
            <a:endParaRPr lang="en-US" sz="1150"/>
          </a:p>
        </p:txBody>
      </p:sp>
      <p:sp>
        <p:nvSpPr>
          <p:cNvPr id="764263852" name="Text 16"/>
          <p:cNvSpPr/>
          <p:nvPr/>
        </p:nvSpPr>
        <p:spPr bwMode="auto">
          <a:xfrm>
            <a:off x="4892039" y="365760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9C4DCC"/>
                </a:solidFill>
                <a:latin typeface="Courier New"/>
                <a:ea typeface="Courier New"/>
                <a:cs typeface="Courier New"/>
              </a:rPr>
              <a:t>effect</a:t>
            </a:r>
            <a:endParaRPr lang="en-US" sz="1200"/>
          </a:p>
        </p:txBody>
      </p:sp>
      <p:sp>
        <p:nvSpPr>
          <p:cNvPr id="1911058373" name="Text 17"/>
          <p:cNvSpPr/>
          <p:nvPr/>
        </p:nvSpPr>
        <p:spPr bwMode="auto">
          <a:xfrm>
            <a:off x="4892039" y="390448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decrease level by  ( * #t rate )</a:t>
            </a:r>
            <a:endParaRPr lang="en-US" sz="1150"/>
          </a:p>
        </p:txBody>
      </p:sp>
      <p:sp>
        <p:nvSpPr>
          <p:cNvPr id="386085255" name="Text 18"/>
          <p:cNvSpPr/>
          <p:nvPr/>
        </p:nvSpPr>
        <p:spPr bwMode="auto">
          <a:xfrm>
            <a:off x="4892039" y="422452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9C4DCC"/>
                </a:solidFill>
                <a:latin typeface="Courier New"/>
                <a:ea typeface="Courier New"/>
                <a:cs typeface="Courier New"/>
              </a:rPr>
              <a:t>meaning</a:t>
            </a:r>
            <a:endParaRPr lang="en-US" sz="1200"/>
          </a:p>
        </p:txBody>
      </p:sp>
      <p:sp>
        <p:nvSpPr>
          <p:cNvPr id="1099558152" name="Text 19"/>
          <p:cNvSpPr/>
          <p:nvPr/>
        </p:nvSpPr>
        <p:spPr bwMode="auto">
          <a:xfrm>
            <a:off x="4892039" y="447141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crops lose health on their own</a:t>
            </a:r>
            <a:endParaRPr lang="en-US" sz="1150"/>
          </a:p>
        </p:txBody>
      </p:sp>
      <p:sp>
        <p:nvSpPr>
          <p:cNvPr id="1268917185" name="Shape 20"/>
          <p:cNvSpPr/>
          <p:nvPr/>
        </p:nvSpPr>
        <p:spPr bwMode="auto">
          <a:xfrm>
            <a:off x="8458200" y="2011680"/>
            <a:ext cx="3529584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31964737" name="Shape 21"/>
          <p:cNvSpPr/>
          <p:nvPr/>
        </p:nvSpPr>
        <p:spPr bwMode="auto">
          <a:xfrm>
            <a:off x="8714232" y="2267712"/>
            <a:ext cx="640080" cy="640080"/>
          </a:xfrm>
          <a:prstGeom prst="ellipse">
            <a:avLst/>
          </a:prstGeom>
          <a:solidFill>
            <a:srgbClr val="7B1FA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297303289" name="Image 2" descr="deck/ic_event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880653" y="2434132"/>
            <a:ext cx="307238" cy="307238"/>
          </a:xfrm>
          <a:prstGeom prst="rect">
            <a:avLst/>
          </a:prstGeom>
        </p:spPr>
      </p:pic>
      <p:sp>
        <p:nvSpPr>
          <p:cNvPr id="1080931622" name="Text 22"/>
          <p:cNvSpPr/>
          <p:nvPr/>
        </p:nvSpPr>
        <p:spPr bwMode="auto">
          <a:xfrm>
            <a:off x="9445752" y="2286000"/>
            <a:ext cx="24323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The crop-fails event</a:t>
            </a:r>
            <a:endParaRPr lang="en-US" sz="1550"/>
          </a:p>
        </p:txBody>
      </p:sp>
      <p:sp>
        <p:nvSpPr>
          <p:cNvPr id="1918179780" name="Text 23"/>
          <p:cNvSpPr/>
          <p:nvPr/>
        </p:nvSpPr>
        <p:spPr bwMode="auto">
          <a:xfrm>
            <a:off x="8732520" y="309067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7B1FA2"/>
                </a:solidFill>
                <a:latin typeface="Courier New"/>
                <a:ea typeface="Courier New"/>
                <a:cs typeface="Courier New"/>
              </a:rPr>
              <a:t>fires when</a:t>
            </a:r>
            <a:endParaRPr lang="en-US" sz="1200"/>
          </a:p>
        </p:txBody>
      </p:sp>
      <p:sp>
        <p:nvSpPr>
          <p:cNvPr id="2046323044" name="Text 24"/>
          <p:cNvSpPr/>
          <p:nvPr/>
        </p:nvSpPr>
        <p:spPr bwMode="auto">
          <a:xfrm>
            <a:off x="8732520" y="333756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level &lt;= 20  &amp;  not reported</a:t>
            </a:r>
            <a:endParaRPr lang="en-US" sz="1150"/>
          </a:p>
        </p:txBody>
      </p:sp>
      <p:sp>
        <p:nvSpPr>
          <p:cNvPr id="151079977" name="Text 25"/>
          <p:cNvSpPr/>
          <p:nvPr/>
        </p:nvSpPr>
        <p:spPr bwMode="auto">
          <a:xfrm>
            <a:off x="8732520" y="365760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7B1FA2"/>
                </a:solidFill>
                <a:latin typeface="Courier New"/>
                <a:ea typeface="Courier New"/>
                <a:cs typeface="Courier New"/>
              </a:rPr>
              <a:t>effect</a:t>
            </a:r>
            <a:endParaRPr lang="en-US" sz="1200"/>
          </a:p>
        </p:txBody>
      </p:sp>
      <p:sp>
        <p:nvSpPr>
          <p:cNvPr id="63793154" name="Text 26"/>
          <p:cNvSpPr/>
          <p:nvPr/>
        </p:nvSpPr>
        <p:spPr bwMode="auto">
          <a:xfrm>
            <a:off x="8732520" y="390448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plot marked failed - permanent</a:t>
            </a:r>
            <a:endParaRPr lang="en-US" sz="1150"/>
          </a:p>
        </p:txBody>
      </p:sp>
      <p:sp>
        <p:nvSpPr>
          <p:cNvPr id="458412261" name="Text 27"/>
          <p:cNvSpPr/>
          <p:nvPr/>
        </p:nvSpPr>
        <p:spPr bwMode="auto">
          <a:xfrm>
            <a:off x="8732520" y="422452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7B1FA2"/>
                </a:solidFill>
                <a:latin typeface="Courier New"/>
                <a:ea typeface="Courier New"/>
                <a:cs typeface="Courier New"/>
              </a:rPr>
              <a:t>meaning</a:t>
            </a:r>
            <a:endParaRPr lang="en-US" sz="1200"/>
          </a:p>
        </p:txBody>
      </p:sp>
      <p:sp>
        <p:nvSpPr>
          <p:cNvPr id="211644076" name="Text 28"/>
          <p:cNvSpPr/>
          <p:nvPr/>
        </p:nvSpPr>
        <p:spPr bwMode="auto">
          <a:xfrm>
            <a:off x="8732520" y="447141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goal becomes unreachable</a:t>
            </a:r>
            <a:endParaRPr lang="en-US" sz="1150"/>
          </a:p>
        </p:txBody>
      </p:sp>
      <p:sp>
        <p:nvSpPr>
          <p:cNvPr id="1671333454" name="Shape 29"/>
          <p:cNvSpPr/>
          <p:nvPr/>
        </p:nvSpPr>
        <p:spPr bwMode="auto">
          <a:xfrm>
            <a:off x="777240" y="5074920"/>
            <a:ext cx="10625328" cy="1051560"/>
          </a:xfrm>
          <a:prstGeom prst="roundRect">
            <a:avLst>
              <a:gd name="adj" fmla="val 8696"/>
            </a:avLst>
          </a:prstGeom>
          <a:solidFill>
            <a:srgbClr val="F3ECF8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91201436" name="Shape 30"/>
          <p:cNvSpPr/>
          <p:nvPr/>
        </p:nvSpPr>
        <p:spPr bwMode="auto">
          <a:xfrm>
            <a:off x="1005840" y="5285232"/>
            <a:ext cx="621792" cy="621792"/>
          </a:xfrm>
          <a:prstGeom prst="ellipse">
            <a:avLst/>
          </a:prstGeom>
          <a:solidFill>
            <a:srgbClr val="6A1B9A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976551264" name="Image 3" descr="deck/ic_bulb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67506" y="5446898"/>
            <a:ext cx="298460" cy="298460"/>
          </a:xfrm>
          <a:prstGeom prst="rect">
            <a:avLst/>
          </a:prstGeom>
        </p:spPr>
      </p:pic>
      <p:sp>
        <p:nvSpPr>
          <p:cNvPr id="677211298" name="Text 31"/>
          <p:cNvSpPr/>
          <p:nvPr/>
        </p:nvSpPr>
        <p:spPr bwMode="auto">
          <a:xfrm>
            <a:off x="1783080" y="5138928"/>
            <a:ext cx="9464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How they interact:  </a:t>
            </a:r>
            <a:r>
              <a:rPr lang="en-US" sz="1400">
                <a:solidFill>
                  <a:srgbClr val="1C2415"/>
                </a:solidFill>
                <a:latin typeface="Calibri"/>
                <a:ea typeface="Calibri"/>
                <a:cs typeface="Calibri"/>
              </a:rPr>
              <a:t>the process drains every crop continuously; the moment a level hits 20 on an unreported plot, the event fires and locks it as failed. So the robot's actions are racing a clock the environment controls.</a:t>
            </a:r>
            <a:endParaRPr lang="en-US" sz="1400"/>
          </a:p>
        </p:txBody>
      </p:sp>
      <p:sp>
        <p:nvSpPr>
          <p:cNvPr id="311551502" name="Text 32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4210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365585" name="Shape 0"/>
          <p:cNvSpPr/>
          <p:nvPr/>
        </p:nvSpPr>
        <p:spPr bwMode="auto">
          <a:xfrm>
            <a:off x="-1828800" y="4206240"/>
            <a:ext cx="4754880" cy="4754880"/>
          </a:xfrm>
          <a:prstGeom prst="ellipse">
            <a:avLst/>
          </a:prstGeom>
          <a:solidFill>
            <a:srgbClr val="6A1B9A">
              <a:alpha val="40000"/>
            </a:srgbClr>
          </a:solidFill>
          <a:ln/>
        </p:spPr>
      </p:sp>
      <p:sp>
        <p:nvSpPr>
          <p:cNvPr id="1321369912" name="Text 1"/>
          <p:cNvSpPr/>
          <p:nvPr/>
        </p:nvSpPr>
        <p:spPr bwMode="auto">
          <a:xfrm>
            <a:off x="7772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9C4DCC"/>
                </a:solidFill>
                <a:latin typeface="Calibri"/>
                <a:ea typeface="Calibri"/>
                <a:cs typeface="Calibri"/>
              </a:rPr>
              <a:t>DESIGN CHOICES  -  KEY INSIGHT</a:t>
            </a:r>
            <a:endParaRPr lang="en-US" sz="1300"/>
          </a:p>
        </p:txBody>
      </p:sp>
      <p:sp>
        <p:nvSpPr>
          <p:cNvPr id="429492236" name="Text 2"/>
          <p:cNvSpPr/>
          <p:nvPr/>
        </p:nvSpPr>
        <p:spPr bwMode="auto">
          <a:xfrm>
            <a:off x="777240" y="914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 durative actions in ENHSP</a:t>
            </a:r>
            <a:endParaRPr lang="en-US" sz="3200"/>
          </a:p>
        </p:txBody>
      </p:sp>
      <p:sp>
        <p:nvSpPr>
          <p:cNvPr id="568232801" name="Text 3"/>
          <p:cNvSpPr/>
          <p:nvPr/>
        </p:nvSpPr>
        <p:spPr bwMode="auto">
          <a:xfrm>
            <a:off x="795528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D9C7E6"/>
                </a:solidFill>
                <a:latin typeface="Calibri"/>
                <a:ea typeface="Calibri"/>
                <a:cs typeface="Calibri"/>
              </a:rPr>
              <a:t>A timed action is emulated by a start action + a timer process + a completion event.</a:t>
            </a:r>
            <a:endParaRPr lang="en-US" sz="1600"/>
          </a:p>
        </p:txBody>
      </p:sp>
      <p:sp>
        <p:nvSpPr>
          <p:cNvPr id="2145798880" name="Shape 4"/>
          <p:cNvSpPr/>
          <p:nvPr/>
        </p:nvSpPr>
        <p:spPr bwMode="auto">
          <a:xfrm>
            <a:off x="868680" y="2788920"/>
            <a:ext cx="3017519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75002431" name="Shape 5"/>
          <p:cNvSpPr/>
          <p:nvPr/>
        </p:nvSpPr>
        <p:spPr bwMode="auto">
          <a:xfrm>
            <a:off x="1124712" y="3044952"/>
            <a:ext cx="640080" cy="640080"/>
          </a:xfrm>
          <a:prstGeom prst="ellipse">
            <a:avLst/>
          </a:prstGeom>
          <a:solidFill>
            <a:srgbClr val="9C4DCC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819735275" name="Image 0" descr="deck/ic_pla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91133" y="3211373"/>
            <a:ext cx="307238" cy="307238"/>
          </a:xfrm>
          <a:prstGeom prst="rect">
            <a:avLst/>
          </a:prstGeom>
        </p:spPr>
      </p:pic>
      <p:sp>
        <p:nvSpPr>
          <p:cNvPr id="1825345747" name="Text 6"/>
          <p:cNvSpPr/>
          <p:nvPr/>
        </p:nvSpPr>
        <p:spPr bwMode="auto">
          <a:xfrm>
            <a:off x="1124712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start-move</a:t>
            </a:r>
            <a:endParaRPr lang="en-US" sz="1450"/>
          </a:p>
        </p:txBody>
      </p:sp>
      <p:sp>
        <p:nvSpPr>
          <p:cNvPr id="502629659" name="Text 7"/>
          <p:cNvSpPr/>
          <p:nvPr/>
        </p:nvSpPr>
        <p:spPr bwMode="auto">
          <a:xfrm>
            <a:off x="1124712" y="4160519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instant action.</a:t>
            </a:r>
            <a:endParaRPr lang="en-US" sz="1200"/>
          </a:p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robot begins moving;</a:t>
            </a:r>
            <a:endParaRPr lang="en-US" sz="1200"/>
          </a:p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sets is-moving = true</a:t>
            </a:r>
            <a:endParaRPr lang="en-US" sz="1200"/>
          </a:p>
        </p:txBody>
      </p:sp>
      <p:sp>
        <p:nvSpPr>
          <p:cNvPr id="2094869245" name="Text 8"/>
          <p:cNvSpPr/>
          <p:nvPr/>
        </p:nvSpPr>
        <p:spPr bwMode="auto">
          <a:xfrm>
            <a:off x="3913632" y="3566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9C4DCC"/>
                </a:solidFill>
                <a:latin typeface="Calibri"/>
                <a:ea typeface="Calibri"/>
                <a:cs typeface="Calibri"/>
              </a:rPr>
              <a:t>&gt;</a:t>
            </a:r>
            <a:endParaRPr lang="en-US" sz="3000"/>
          </a:p>
        </p:txBody>
      </p:sp>
      <p:sp>
        <p:nvSpPr>
          <p:cNvPr id="950475367" name="Shape 9"/>
          <p:cNvSpPr/>
          <p:nvPr/>
        </p:nvSpPr>
        <p:spPr bwMode="auto">
          <a:xfrm>
            <a:off x="4389120" y="2788920"/>
            <a:ext cx="3017519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74296837" name="Shape 10"/>
          <p:cNvSpPr/>
          <p:nvPr/>
        </p:nvSpPr>
        <p:spPr bwMode="auto">
          <a:xfrm>
            <a:off x="4645152" y="3044952"/>
            <a:ext cx="640080" cy="640080"/>
          </a:xfrm>
          <a:prstGeom prst="ellipse">
            <a:avLst/>
          </a:prstGeom>
          <a:solidFill>
            <a:srgbClr val="6A1B9A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231773363" name="Image 1" descr="deck/ic_proc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11573" y="3211373"/>
            <a:ext cx="307238" cy="307238"/>
          </a:xfrm>
          <a:prstGeom prst="rect">
            <a:avLst/>
          </a:prstGeom>
        </p:spPr>
      </p:pic>
      <p:sp>
        <p:nvSpPr>
          <p:cNvPr id="409388121" name="Text 11"/>
          <p:cNvSpPr/>
          <p:nvPr/>
        </p:nvSpPr>
        <p:spPr bwMode="auto">
          <a:xfrm>
            <a:off x="4645152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moving  (process)</a:t>
            </a:r>
            <a:endParaRPr lang="en-US" sz="1450"/>
          </a:p>
        </p:txBody>
      </p:sp>
      <p:sp>
        <p:nvSpPr>
          <p:cNvPr id="142637690" name="Text 12"/>
          <p:cNvSpPr/>
          <p:nvPr/>
        </p:nvSpPr>
        <p:spPr bwMode="auto">
          <a:xfrm>
            <a:off x="4645152" y="4160519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runs while moving.</a:t>
            </a:r>
            <a:endParaRPr lang="en-US" sz="1200"/>
          </a:p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advances move-timer</a:t>
            </a:r>
            <a:endParaRPr lang="en-US" sz="1200"/>
          </a:p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continuously with #t</a:t>
            </a:r>
            <a:endParaRPr lang="en-US" sz="1200"/>
          </a:p>
        </p:txBody>
      </p:sp>
      <p:sp>
        <p:nvSpPr>
          <p:cNvPr id="1344360957" name="Text 13"/>
          <p:cNvSpPr/>
          <p:nvPr/>
        </p:nvSpPr>
        <p:spPr bwMode="auto">
          <a:xfrm>
            <a:off x="7434072" y="3566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9C4DCC"/>
                </a:solidFill>
                <a:latin typeface="Calibri"/>
                <a:ea typeface="Calibri"/>
                <a:cs typeface="Calibri"/>
              </a:rPr>
              <a:t>&gt;</a:t>
            </a:r>
            <a:endParaRPr lang="en-US" sz="3000"/>
          </a:p>
        </p:txBody>
      </p:sp>
      <p:sp>
        <p:nvSpPr>
          <p:cNvPr id="1495029758" name="Shape 14"/>
          <p:cNvSpPr/>
          <p:nvPr/>
        </p:nvSpPr>
        <p:spPr bwMode="auto">
          <a:xfrm>
            <a:off x="7909560" y="2788920"/>
            <a:ext cx="3017519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57903214" name="Shape 15"/>
          <p:cNvSpPr/>
          <p:nvPr/>
        </p:nvSpPr>
        <p:spPr bwMode="auto">
          <a:xfrm>
            <a:off x="8165592" y="3044952"/>
            <a:ext cx="640080" cy="640080"/>
          </a:xfrm>
          <a:prstGeom prst="ellipse">
            <a:avLst/>
          </a:prstGeom>
          <a:solidFill>
            <a:srgbClr val="8E24AA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321848326" name="Image 2" descr="deck/ic_event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332013" y="3211373"/>
            <a:ext cx="307238" cy="307238"/>
          </a:xfrm>
          <a:prstGeom prst="rect">
            <a:avLst/>
          </a:prstGeom>
        </p:spPr>
      </p:pic>
      <p:sp>
        <p:nvSpPr>
          <p:cNvPr id="1059035645" name="Text 16"/>
          <p:cNvSpPr/>
          <p:nvPr/>
        </p:nvSpPr>
        <p:spPr bwMode="auto">
          <a:xfrm>
            <a:off x="8165592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C2415"/>
                </a:solidFill>
                <a:latin typeface="Courier New"/>
                <a:ea typeface="Courier New"/>
                <a:cs typeface="Courier New"/>
              </a:rPr>
              <a:t>move-complete (event)</a:t>
            </a:r>
            <a:endParaRPr lang="en-US" sz="1450"/>
          </a:p>
        </p:txBody>
      </p:sp>
      <p:sp>
        <p:nvSpPr>
          <p:cNvPr id="1788237114" name="Text 17"/>
          <p:cNvSpPr/>
          <p:nvPr/>
        </p:nvSpPr>
        <p:spPr bwMode="auto">
          <a:xfrm>
            <a:off x="8165592" y="4160519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fires at timer &gt;= 1.</a:t>
            </a:r>
            <a:endParaRPr lang="en-US" sz="1200"/>
          </a:p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teleports robot to dest;</a:t>
            </a:r>
            <a:endParaRPr lang="en-US" sz="1200"/>
          </a:p>
          <a:p>
            <a:pPr marL="0" indent="0">
              <a:lnSpc>
                <a:spcPct val="104000"/>
              </a:lnSpc>
              <a:buNone/>
              <a:defRPr/>
            </a:pPr>
            <a:r>
              <a:rPr lang="en-US" sz="1200">
                <a:solidFill>
                  <a:srgbClr val="5A6650"/>
                </a:solidFill>
                <a:latin typeface="Calibri"/>
                <a:ea typeface="Calibri"/>
                <a:cs typeface="Calibri"/>
              </a:rPr>
              <a:t>resets the timer</a:t>
            </a:r>
            <a:endParaRPr lang="en-US" sz="1200"/>
          </a:p>
        </p:txBody>
      </p:sp>
      <p:sp>
        <p:nvSpPr>
          <p:cNvPr id="2134933309" name="Text 18"/>
          <p:cNvSpPr/>
          <p:nvPr/>
        </p:nvSpPr>
        <p:spPr bwMode="auto">
          <a:xfrm>
            <a:off x="86868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FC0DA"/>
                </a:solidFill>
                <a:latin typeface="Calibri"/>
                <a:ea typeface="Calibri"/>
                <a:cs typeface="Calibri"/>
              </a:rPr>
              <a:t>Same pattern gives </a:t>
            </a:r>
            <a:r>
              <a:rPr lang="en-US"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report </a:t>
            </a:r>
            <a:r>
              <a:rPr lang="en-US" sz="1500">
                <a:solidFill>
                  <a:srgbClr val="CFC0DA"/>
                </a:solidFill>
                <a:latin typeface="Calibri"/>
                <a:ea typeface="Calibri"/>
                <a:cs typeface="Calibri"/>
              </a:rPr>
              <a:t>its 0.2s duration.   One durative action  =  </a:t>
            </a:r>
            <a:r>
              <a:rPr lang="en-US" sz="1500" b="1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1 action + 1 process + 1 event</a:t>
            </a:r>
            <a:r>
              <a:rPr lang="en-US" sz="1500">
                <a:solidFill>
                  <a:srgbClr val="CFC0D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500"/>
          </a:p>
        </p:txBody>
      </p:sp>
      <p:sp>
        <p:nvSpPr>
          <p:cNvPr id="2119059213" name="Text 19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4210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371471" name="Shape 0"/>
          <p:cNvSpPr/>
          <p:nvPr/>
        </p:nvSpPr>
        <p:spPr bwMode="auto">
          <a:xfrm>
            <a:off x="9326880" y="-2194560"/>
            <a:ext cx="5669280" cy="5669280"/>
          </a:xfrm>
          <a:prstGeom prst="ellipse">
            <a:avLst/>
          </a:prstGeom>
          <a:solidFill>
            <a:srgbClr val="2C5F2D">
              <a:alpha val="65000"/>
            </a:srgbClr>
          </a:solidFill>
          <a:ln/>
        </p:spPr>
      </p:sp>
      <p:sp>
        <p:nvSpPr>
          <p:cNvPr id="2135399591" name="Text 1"/>
          <p:cNvSpPr/>
          <p:nvPr/>
        </p:nvSpPr>
        <p:spPr bwMode="auto">
          <a:xfrm>
            <a:off x="7772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LIVE DEMO / PLAN OUTPUT </a:t>
            </a:r>
            <a:endParaRPr lang="en-US" sz="1300"/>
          </a:p>
        </p:txBody>
      </p:sp>
      <p:sp>
        <p:nvSpPr>
          <p:cNvPr id="1978673216" name="Text 2"/>
          <p:cNvSpPr/>
          <p:nvPr/>
        </p:nvSpPr>
        <p:spPr bwMode="auto">
          <a:xfrm>
            <a:off x="777240" y="914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Watching the plans run</a:t>
            </a:r>
            <a:endParaRPr lang="en-US" sz="3200"/>
          </a:p>
        </p:txBody>
      </p:sp>
      <p:sp>
        <p:nvSpPr>
          <p:cNvPr id="1248812" name="Text 3"/>
          <p:cNvSpPr/>
          <p:nvPr/>
        </p:nvSpPr>
        <p:spPr bwMode="auto">
          <a:xfrm>
            <a:off x="795528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CFE0BF"/>
                </a:solidFill>
                <a:latin typeface="Calibri"/>
                <a:ea typeface="Calibri"/>
                <a:cs typeface="Calibri"/>
              </a:rPr>
              <a:t>I'll run ENHSP live in VS Code and play the four animations.  Here's how to read them:</a:t>
            </a:r>
            <a:endParaRPr lang="en-US" sz="1600"/>
          </a:p>
        </p:txBody>
      </p:sp>
      <p:sp>
        <p:nvSpPr>
          <p:cNvPr id="785318885" name="Shape 4"/>
          <p:cNvSpPr/>
          <p:nvPr/>
        </p:nvSpPr>
        <p:spPr bwMode="auto">
          <a:xfrm>
            <a:off x="868680" y="2651760"/>
            <a:ext cx="6583680" cy="749808"/>
          </a:xfrm>
          <a:prstGeom prst="roundRect">
            <a:avLst>
              <a:gd name="adj" fmla="val 10976"/>
            </a:avLst>
          </a:prstGeom>
          <a:solidFill>
            <a:srgbClr val="1F3018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602935530" name="Image 0" descr="deck/dot_r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97280" y="2889504"/>
            <a:ext cx="274320" cy="274320"/>
          </a:xfrm>
          <a:prstGeom prst="rect">
            <a:avLst/>
          </a:prstGeom>
        </p:spPr>
      </p:pic>
      <p:sp>
        <p:nvSpPr>
          <p:cNvPr id="2072686656" name="Text 5"/>
          <p:cNvSpPr/>
          <p:nvPr/>
        </p:nvSpPr>
        <p:spPr bwMode="auto">
          <a:xfrm>
            <a:off x="1554480" y="265176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dot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the robot, moving along edges</a:t>
            </a:r>
            <a:endParaRPr lang="en-US" sz="1350"/>
          </a:p>
        </p:txBody>
      </p:sp>
      <p:sp>
        <p:nvSpPr>
          <p:cNvPr id="963795960" name="Shape 6"/>
          <p:cNvSpPr/>
          <p:nvPr/>
        </p:nvSpPr>
        <p:spPr bwMode="auto">
          <a:xfrm>
            <a:off x="868680" y="3520440"/>
            <a:ext cx="6583680" cy="749808"/>
          </a:xfrm>
          <a:prstGeom prst="roundRect">
            <a:avLst>
              <a:gd name="adj" fmla="val 10976"/>
            </a:avLst>
          </a:prstGeom>
          <a:solidFill>
            <a:srgbClr val="1F3018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944820544" name="Image 1" descr="deck/dot_blu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97280" y="3758184"/>
            <a:ext cx="274320" cy="274320"/>
          </a:xfrm>
          <a:prstGeom prst="rect">
            <a:avLst/>
          </a:prstGeom>
        </p:spPr>
      </p:pic>
      <p:sp>
        <p:nvSpPr>
          <p:cNvPr id="969540259" name="Text 7"/>
          <p:cNvSpPr/>
          <p:nvPr/>
        </p:nvSpPr>
        <p:spPr bwMode="auto">
          <a:xfrm>
            <a:off x="1554480" y="352044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Blue inner ring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plot has been inspected</a:t>
            </a:r>
            <a:endParaRPr lang="en-US" sz="1350"/>
          </a:p>
        </p:txBody>
      </p:sp>
      <p:sp>
        <p:nvSpPr>
          <p:cNvPr id="958915732" name="Shape 8"/>
          <p:cNvSpPr/>
          <p:nvPr/>
        </p:nvSpPr>
        <p:spPr bwMode="auto">
          <a:xfrm>
            <a:off x="868680" y="4389120"/>
            <a:ext cx="6583680" cy="749808"/>
          </a:xfrm>
          <a:prstGeom prst="roundRect">
            <a:avLst>
              <a:gd name="adj" fmla="val 10976"/>
            </a:avLst>
          </a:prstGeom>
          <a:solidFill>
            <a:srgbClr val="1F3018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586832907" name="Image 2" descr="deck/dot_purpl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97280" y="4626864"/>
            <a:ext cx="274320" cy="274320"/>
          </a:xfrm>
          <a:prstGeom prst="rect">
            <a:avLst/>
          </a:prstGeom>
        </p:spPr>
      </p:pic>
      <p:sp>
        <p:nvSpPr>
          <p:cNvPr id="732055632" name="Text 9"/>
          <p:cNvSpPr/>
          <p:nvPr/>
        </p:nvSpPr>
        <p:spPr bwMode="auto">
          <a:xfrm>
            <a:off x="1554480" y="438912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Purple outer ring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plot has been reported (rep)</a:t>
            </a:r>
            <a:endParaRPr lang="en-US" sz="1350"/>
          </a:p>
        </p:txBody>
      </p:sp>
      <p:sp>
        <p:nvSpPr>
          <p:cNvPr id="1367880948" name="Shape 10"/>
          <p:cNvSpPr/>
          <p:nvPr/>
        </p:nvSpPr>
        <p:spPr bwMode="auto">
          <a:xfrm>
            <a:off x="868680" y="5257800"/>
            <a:ext cx="6583680" cy="749808"/>
          </a:xfrm>
          <a:prstGeom prst="roundRect">
            <a:avLst>
              <a:gd name="adj" fmla="val 10976"/>
            </a:avLst>
          </a:prstGeom>
          <a:solidFill>
            <a:srgbClr val="1F3018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320780042" name="Image 3" descr="deck/dot_pink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97280" y="5495544"/>
            <a:ext cx="274320" cy="274320"/>
          </a:xfrm>
          <a:prstGeom prst="rect">
            <a:avLst/>
          </a:prstGeom>
        </p:spPr>
      </p:pic>
      <p:sp>
        <p:nvSpPr>
          <p:cNvPr id="340512756" name="Text 11"/>
          <p:cNvSpPr/>
          <p:nvPr/>
        </p:nvSpPr>
        <p:spPr bwMode="auto">
          <a:xfrm>
            <a:off x="1554480" y="525780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Pink ring (Q2)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condition-level - shrinks as crop degrades; red = near failure</a:t>
            </a:r>
            <a:endParaRPr lang="en-US" sz="1350"/>
          </a:p>
        </p:txBody>
      </p:sp>
      <p:sp>
        <p:nvSpPr>
          <p:cNvPr id="1151386547" name="Shape 12"/>
          <p:cNvSpPr/>
          <p:nvPr/>
        </p:nvSpPr>
        <p:spPr bwMode="auto">
          <a:xfrm>
            <a:off x="7818120" y="2651760"/>
            <a:ext cx="3584448" cy="3310127"/>
          </a:xfrm>
          <a:prstGeom prst="roundRect">
            <a:avLst>
              <a:gd name="adj" fmla="val 2762"/>
            </a:avLst>
          </a:prstGeom>
          <a:solidFill>
            <a:srgbClr val="1F3018"/>
          </a:solidFill>
          <a:ln/>
          <a:effectLst>
            <a:outerShdw blurRad="114300" dist="381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1131387" name="Text 13"/>
          <p:cNvSpPr/>
          <p:nvPr/>
        </p:nvSpPr>
        <p:spPr bwMode="auto">
          <a:xfrm>
            <a:off x="80924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Four plans</a:t>
            </a:r>
            <a:endParaRPr lang="en-US" sz="1600"/>
          </a:p>
        </p:txBody>
      </p:sp>
      <p:sp>
        <p:nvSpPr>
          <p:cNvPr id="488331620" name="Text 14"/>
          <p:cNvSpPr/>
          <p:nvPr/>
        </p:nvSpPr>
        <p:spPr bwMode="auto">
          <a:xfrm>
            <a:off x="80924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Q1-P1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stable crops</a:t>
            </a:r>
            <a:endParaRPr lang="en-US" sz="1350"/>
          </a:p>
        </p:txBody>
      </p:sp>
      <p:sp>
        <p:nvSpPr>
          <p:cNvPr id="1949016364" name="Text 15"/>
          <p:cNvSpPr/>
          <p:nvPr/>
        </p:nvSpPr>
        <p:spPr bwMode="auto">
          <a:xfrm>
            <a:off x="80924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Q1-P2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fewest-moves tour</a:t>
            </a:r>
            <a:endParaRPr lang="en-US" sz="1350"/>
          </a:p>
        </p:txBody>
      </p:sp>
      <p:sp>
        <p:nvSpPr>
          <p:cNvPr id="111119956" name="Text 16"/>
          <p:cNvSpPr/>
          <p:nvPr/>
        </p:nvSpPr>
        <p:spPr bwMode="auto">
          <a:xfrm>
            <a:off x="809244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Q2-P1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timing irrelevant</a:t>
            </a:r>
            <a:endParaRPr lang="en-US" sz="1350"/>
          </a:p>
        </p:txBody>
      </p:sp>
      <p:sp>
        <p:nvSpPr>
          <p:cNvPr id="723613223" name="Text 17"/>
          <p:cNvSpPr/>
          <p:nvPr/>
        </p:nvSpPr>
        <p:spPr bwMode="auto">
          <a:xfrm>
            <a:off x="80924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Q2-P2   </a:t>
            </a:r>
            <a:r>
              <a:rPr lang="en-US" sz="135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timing critical *</a:t>
            </a:r>
            <a:endParaRPr lang="en-US" sz="1350"/>
          </a:p>
        </p:txBody>
      </p:sp>
      <p:sp>
        <p:nvSpPr>
          <p:cNvPr id="1084003273" name="Text 18"/>
          <p:cNvSpPr/>
          <p:nvPr/>
        </p:nvSpPr>
        <p:spPr bwMode="auto">
          <a:xfrm>
            <a:off x="809244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* the highlight</a:t>
            </a:r>
            <a:endParaRPr lang="en-US" sz="1150"/>
          </a:p>
        </p:txBody>
      </p:sp>
      <p:sp>
        <p:nvSpPr>
          <p:cNvPr id="1578654816" name="Text 19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31370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PLAN OUTPUT  -  Q1 (CLASSICAL)</a:t>
            </a:r>
            <a:endParaRPr lang="en-US" sz="1300"/>
          </a:p>
        </p:txBody>
      </p:sp>
      <p:sp>
        <p:nvSpPr>
          <p:cNvPr id="1731101381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Q1 - Problem 1: stable crops</a:t>
            </a:r>
            <a:endParaRPr lang="en-US" sz="3200"/>
          </a:p>
        </p:txBody>
      </p:sp>
      <p:sp>
        <p:nvSpPr>
          <p:cNvPr id="1638544428" name="Shape 3"/>
          <p:cNvSpPr/>
          <p:nvPr/>
        </p:nvSpPr>
        <p:spPr bwMode="auto">
          <a:xfrm>
            <a:off x="7111092" y="628649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E9F0E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270979406" name="Text 4"/>
          <p:cNvSpPr/>
          <p:nvPr/>
        </p:nvSpPr>
        <p:spPr bwMode="auto">
          <a:xfrm>
            <a:off x="7614012" y="628649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Q1 - P1</a:t>
            </a:r>
            <a:endParaRPr lang="en-US" sz="2000"/>
          </a:p>
        </p:txBody>
      </p:sp>
      <p:sp>
        <p:nvSpPr>
          <p:cNvPr id="1194863846" name="Text 7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pic>
        <p:nvPicPr>
          <p:cNvPr id="19915175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7240" y="1719072"/>
            <a:ext cx="10037172" cy="4956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402252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99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PLAN OUTPUT  -  Q1 (CLASSICAL)</a:t>
            </a:r>
            <a:endParaRPr lang="en-US" sz="1300"/>
          </a:p>
        </p:txBody>
      </p:sp>
      <p:sp>
        <p:nvSpPr>
          <p:cNvPr id="771825248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 i="0" u="none" strike="noStrike" cap="none" spc="0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Q1 - Problem 2: cost-optimised</a:t>
            </a:r>
            <a:endParaRPr sz="3200"/>
          </a:p>
          <a:p>
            <a:pPr>
              <a:defRPr/>
            </a:pPr>
            <a:endParaRPr/>
          </a:p>
        </p:txBody>
      </p:sp>
      <p:sp>
        <p:nvSpPr>
          <p:cNvPr id="425331126" name="Shape 3"/>
          <p:cNvSpPr/>
          <p:nvPr/>
        </p:nvSpPr>
        <p:spPr bwMode="auto">
          <a:xfrm>
            <a:off x="7111091" y="628649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E9F0E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760054159" name="Text 4"/>
          <p:cNvSpPr/>
          <p:nvPr/>
        </p:nvSpPr>
        <p:spPr bwMode="auto">
          <a:xfrm>
            <a:off x="7614010" y="628649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Q1 - P2</a:t>
            </a:r>
            <a:endParaRPr lang="en-US" sz="2000"/>
          </a:p>
        </p:txBody>
      </p:sp>
      <p:sp>
        <p:nvSpPr>
          <p:cNvPr id="1778670343" name="Text 7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pic>
        <p:nvPicPr>
          <p:cNvPr id="16244828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7240" y="1657350"/>
            <a:ext cx="10037171" cy="4880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402168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i="0" u="none" strike="noStrike" cap="none" spc="299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PLAN OUTPUT  -  Q2 (PDDL+)</a:t>
            </a:r>
            <a:endParaRPr sz="1300"/>
          </a:p>
          <a:p>
            <a:pPr>
              <a:defRPr/>
            </a:pPr>
            <a:endParaRPr/>
          </a:p>
        </p:txBody>
      </p:sp>
      <p:sp>
        <p:nvSpPr>
          <p:cNvPr id="2076773184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 i="0" u="none" strike="noStrike" cap="none" spc="0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Q2 - Problem 1: timing irrelevant</a:t>
            </a:r>
            <a:endParaRPr sz="3200"/>
          </a:p>
          <a:p>
            <a:pPr>
              <a:defRPr/>
            </a:pPr>
            <a:endParaRPr/>
          </a:p>
        </p:txBody>
      </p:sp>
      <p:sp>
        <p:nvSpPr>
          <p:cNvPr id="464986895" name="Shape 3"/>
          <p:cNvSpPr/>
          <p:nvPr/>
        </p:nvSpPr>
        <p:spPr bwMode="auto">
          <a:xfrm>
            <a:off x="7111091" y="628649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E9F0E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036113851" name="Text 4"/>
          <p:cNvSpPr/>
          <p:nvPr/>
        </p:nvSpPr>
        <p:spPr bwMode="auto">
          <a:xfrm>
            <a:off x="7614010" y="628649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Q2 - P1</a:t>
            </a:r>
            <a:endParaRPr lang="en-US" sz="2000"/>
          </a:p>
        </p:txBody>
      </p:sp>
      <p:sp>
        <p:nvSpPr>
          <p:cNvPr id="2041331870" name="Text 7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pic>
        <p:nvPicPr>
          <p:cNvPr id="5377885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7240" y="1719072"/>
            <a:ext cx="10037171" cy="4956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6F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063960" name="Text 0"/>
          <p:cNvSpPr/>
          <p:nvPr/>
        </p:nvSpPr>
        <p:spPr bwMode="auto">
          <a:xfrm>
            <a:off x="77724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i="0" u="none" strike="noStrike" cap="none" spc="299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PLAN OUTPUT  -  Q2 (PDDL+)  -  THE HIGHLIGHT</a:t>
            </a:r>
            <a:endParaRPr sz="1300"/>
          </a:p>
          <a:p>
            <a:pPr>
              <a:defRPr/>
            </a:pPr>
            <a:endParaRPr/>
          </a:p>
        </p:txBody>
      </p:sp>
      <p:sp>
        <p:nvSpPr>
          <p:cNvPr id="282654380" name="Text 1"/>
          <p:cNvSpPr/>
          <p:nvPr/>
        </p:nvSpPr>
        <p:spPr bwMode="auto"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 i="0" u="none" strike="noStrike" cap="none" spc="0">
                <a:solidFill>
                  <a:srgbClr val="1C2415"/>
                </a:solidFill>
                <a:latin typeface="Cambria"/>
                <a:ea typeface="Cambria"/>
                <a:cs typeface="Cambria"/>
              </a:rPr>
              <a:t>Q2 - Problem 2: timing critical</a:t>
            </a:r>
            <a:endParaRPr sz="3200"/>
          </a:p>
          <a:p>
            <a:pPr>
              <a:defRPr/>
            </a:pPr>
            <a:endParaRPr/>
          </a:p>
        </p:txBody>
      </p:sp>
      <p:sp>
        <p:nvSpPr>
          <p:cNvPr id="1767092912" name="Shape 3"/>
          <p:cNvSpPr/>
          <p:nvPr/>
        </p:nvSpPr>
        <p:spPr bwMode="auto">
          <a:xfrm>
            <a:off x="7111091" y="628649"/>
            <a:ext cx="3703320" cy="914400"/>
          </a:xfrm>
          <a:prstGeom prst="roundRect">
            <a:avLst>
              <a:gd name="adj" fmla="val 10000"/>
            </a:avLst>
          </a:prstGeom>
          <a:solidFill>
            <a:srgbClr val="E9F0E2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615701468" name="Text 4"/>
          <p:cNvSpPr/>
          <p:nvPr/>
        </p:nvSpPr>
        <p:spPr bwMode="auto">
          <a:xfrm>
            <a:off x="7614010" y="628649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Q2 - P2</a:t>
            </a:r>
            <a:endParaRPr lang="en-US" sz="2000"/>
          </a:p>
        </p:txBody>
      </p:sp>
      <p:sp>
        <p:nvSpPr>
          <p:cNvPr id="1145034048" name="Text 7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pic>
        <p:nvPicPr>
          <p:cNvPr id="12175015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7240" y="1719072"/>
            <a:ext cx="10037170" cy="4818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14210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6074" name="Shape 0"/>
          <p:cNvSpPr/>
          <p:nvPr/>
        </p:nvSpPr>
        <p:spPr bwMode="auto">
          <a:xfrm>
            <a:off x="8778240" y="3474720"/>
            <a:ext cx="5852160" cy="585216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582140357" name="Text 1"/>
          <p:cNvSpPr/>
          <p:nvPr/>
        </p:nvSpPr>
        <p:spPr bwMode="auto">
          <a:xfrm>
            <a:off x="77724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300"/>
          </a:p>
        </p:txBody>
      </p:sp>
      <p:sp>
        <p:nvSpPr>
          <p:cNvPr id="1675907714" name="Text 2"/>
          <p:cNvSpPr/>
          <p:nvPr/>
        </p:nvSpPr>
        <p:spPr bwMode="auto">
          <a:xfrm>
            <a:off x="777240" y="914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Challenges &amp; limitations</a:t>
            </a:r>
            <a:endParaRPr lang="en-US" sz="3200"/>
          </a:p>
        </p:txBody>
      </p:sp>
      <p:sp>
        <p:nvSpPr>
          <p:cNvPr id="297316314" name="Text 3"/>
          <p:cNvSpPr/>
          <p:nvPr/>
        </p:nvSpPr>
        <p:spPr bwMode="auto">
          <a:xfrm>
            <a:off x="86868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What was hard</a:t>
            </a:r>
            <a:endParaRPr lang="en-US" sz="1700"/>
          </a:p>
        </p:txBody>
      </p:sp>
      <p:sp>
        <p:nvSpPr>
          <p:cNvPr id="79952995" name="Shape 4"/>
          <p:cNvSpPr/>
          <p:nvPr/>
        </p:nvSpPr>
        <p:spPr bwMode="auto">
          <a:xfrm>
            <a:off x="896112" y="2423160"/>
            <a:ext cx="566928" cy="566928"/>
          </a:xfrm>
          <a:prstGeom prst="ellipse">
            <a:avLst/>
          </a:prstGeom>
          <a:solidFill>
            <a:srgbClr val="2C5F2D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987724755" name="Image 0" descr="deck/ic_war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3513" y="2570561"/>
            <a:ext cx="272125" cy="272125"/>
          </a:xfrm>
          <a:prstGeom prst="rect">
            <a:avLst/>
          </a:prstGeom>
        </p:spPr>
      </p:pic>
      <p:sp>
        <p:nvSpPr>
          <p:cNvPr id="1897569213" name="Text 5"/>
          <p:cNvSpPr/>
          <p:nvPr/>
        </p:nvSpPr>
        <p:spPr bwMode="auto">
          <a:xfrm>
            <a:off x="1627632" y="24048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durative actions in ENHSP</a:t>
            </a:r>
            <a:endParaRPr lang="en-US" sz="1300"/>
          </a:p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rebuilt duration from start + process + event</a:t>
            </a:r>
            <a:endParaRPr lang="en-US" sz="1300"/>
          </a:p>
        </p:txBody>
      </p:sp>
      <p:sp>
        <p:nvSpPr>
          <p:cNvPr id="1733284223" name="Shape 6"/>
          <p:cNvSpPr/>
          <p:nvPr/>
        </p:nvSpPr>
        <p:spPr bwMode="auto">
          <a:xfrm>
            <a:off x="896112" y="3337560"/>
            <a:ext cx="566928" cy="566928"/>
          </a:xfrm>
          <a:prstGeom prst="ellipse">
            <a:avLst/>
          </a:prstGeom>
          <a:solidFill>
            <a:srgbClr val="2C5F2D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916009033" name="Image 1" descr="deck/ic_cog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43513" y="3484961"/>
            <a:ext cx="272125" cy="272125"/>
          </a:xfrm>
          <a:prstGeom prst="rect">
            <a:avLst/>
          </a:prstGeom>
        </p:spPr>
      </p:pic>
      <p:sp>
        <p:nvSpPr>
          <p:cNvPr id="1547947481" name="Text 7"/>
          <p:cNvSpPr/>
          <p:nvPr/>
        </p:nvSpPr>
        <p:spPr bwMode="auto">
          <a:xfrm>
            <a:off x="1627632" y="33192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State-dependent cost failed</a:t>
            </a:r>
            <a:endParaRPr lang="en-US" sz="1300"/>
          </a:p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ENHSP optimises only unit costs -&gt; kept flat +1/move</a:t>
            </a:r>
            <a:endParaRPr lang="en-US" sz="1300"/>
          </a:p>
        </p:txBody>
      </p:sp>
      <p:sp>
        <p:nvSpPr>
          <p:cNvPr id="1753847333" name="Shape 8"/>
          <p:cNvSpPr/>
          <p:nvPr/>
        </p:nvSpPr>
        <p:spPr bwMode="auto">
          <a:xfrm>
            <a:off x="896112" y="4251960"/>
            <a:ext cx="566928" cy="566928"/>
          </a:xfrm>
          <a:prstGeom prst="ellipse">
            <a:avLst/>
          </a:prstGeom>
          <a:solidFill>
            <a:srgbClr val="2C5F2D"/>
          </a:solidFill>
          <a:ln/>
          <a:effectLst>
            <a:outerShdw blurRad="76200" dist="254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183556983" name="Image 2" descr="deck/ic_clock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43513" y="4399361"/>
            <a:ext cx="272125" cy="272125"/>
          </a:xfrm>
          <a:prstGeom prst="rect">
            <a:avLst/>
          </a:prstGeom>
        </p:spPr>
      </p:pic>
      <p:sp>
        <p:nvSpPr>
          <p:cNvPr id="1900169168" name="Text 9"/>
          <p:cNvSpPr/>
          <p:nvPr/>
        </p:nvSpPr>
        <p:spPr bwMode="auto">
          <a:xfrm>
            <a:off x="1627632" y="42336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Time-step (delta) tuning</a:t>
            </a:r>
            <a:endParaRPr lang="en-US" sz="1300"/>
          </a:p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>
                <a:solidFill>
                  <a:srgbClr val="B9C7AB"/>
                </a:solidFill>
                <a:latin typeface="Calibri"/>
                <a:ea typeface="Calibri"/>
                <a:cs typeface="Calibri"/>
              </a:rPr>
              <a:t>too coarse misses events; too fine is slow</a:t>
            </a:r>
            <a:endParaRPr lang="en-US" sz="1300"/>
          </a:p>
        </p:txBody>
      </p:sp>
      <p:sp>
        <p:nvSpPr>
          <p:cNvPr id="280194768" name="Text 10"/>
          <p:cNvSpPr/>
          <p:nvPr/>
        </p:nvSpPr>
        <p:spPr bwMode="auto">
          <a:xfrm>
            <a:off x="640080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Limits &amp; what I'd change</a:t>
            </a:r>
            <a:endParaRPr lang="en-US" sz="1700"/>
          </a:p>
        </p:txBody>
      </p:sp>
      <p:sp>
        <p:nvSpPr>
          <p:cNvPr id="1610644429" name="Shape 11"/>
          <p:cNvSpPr/>
          <p:nvPr/>
        </p:nvSpPr>
        <p:spPr bwMode="auto">
          <a:xfrm>
            <a:off x="6446520" y="2478024"/>
            <a:ext cx="146304" cy="146304"/>
          </a:xfrm>
          <a:prstGeom prst="ellipse">
            <a:avLst/>
          </a:prstGeom>
          <a:solidFill>
            <a:srgbClr val="5E8C42"/>
          </a:solidFill>
          <a:ln/>
        </p:spPr>
      </p:sp>
      <p:sp>
        <p:nvSpPr>
          <p:cNvPr id="1202416423" name="Text 12"/>
          <p:cNvSpPr/>
          <p:nvPr/>
        </p:nvSpPr>
        <p:spPr bwMode="auto">
          <a:xfrm>
            <a:off x="6766560" y="238658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>
                <a:solidFill>
                  <a:srgbClr val="D5DEC9"/>
                </a:solidFill>
                <a:latin typeface="Calibri"/>
                <a:ea typeface="Calibri"/>
                <a:cs typeface="Calibri"/>
              </a:rPr>
              <a:t>Discrete Q1 labels hide how close a crop is to failing - Q2's numeric level fixes this.</a:t>
            </a:r>
            <a:endParaRPr lang="en-US" sz="1300"/>
          </a:p>
        </p:txBody>
      </p:sp>
      <p:sp>
        <p:nvSpPr>
          <p:cNvPr id="1779365253" name="Shape 13"/>
          <p:cNvSpPr/>
          <p:nvPr/>
        </p:nvSpPr>
        <p:spPr bwMode="auto">
          <a:xfrm>
            <a:off x="6446520" y="3374136"/>
            <a:ext cx="146304" cy="146304"/>
          </a:xfrm>
          <a:prstGeom prst="ellipse">
            <a:avLst/>
          </a:prstGeom>
          <a:solidFill>
            <a:srgbClr val="5E8C42"/>
          </a:solidFill>
          <a:ln/>
        </p:spPr>
      </p:sp>
      <p:sp>
        <p:nvSpPr>
          <p:cNvPr id="417849169" name="Text 14"/>
          <p:cNvSpPr/>
          <p:nvPr/>
        </p:nvSpPr>
        <p:spPr bwMode="auto">
          <a:xfrm>
            <a:off x="6766560" y="328269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>
                <a:solidFill>
                  <a:srgbClr val="D5DEC9"/>
                </a:solidFill>
                <a:latin typeface="Calibri"/>
                <a:ea typeface="Calibri"/>
                <a:cs typeface="Calibri"/>
              </a:rPr>
              <a:t>Single robot, fixed graph - no multi-robot coordination or repeated monitoring cycles.</a:t>
            </a:r>
            <a:endParaRPr lang="en-US" sz="1300"/>
          </a:p>
        </p:txBody>
      </p:sp>
      <p:sp>
        <p:nvSpPr>
          <p:cNvPr id="1201535045" name="Shape 15"/>
          <p:cNvSpPr/>
          <p:nvPr/>
        </p:nvSpPr>
        <p:spPr bwMode="auto">
          <a:xfrm>
            <a:off x="6446520" y="4270248"/>
            <a:ext cx="146304" cy="146304"/>
          </a:xfrm>
          <a:prstGeom prst="ellipse">
            <a:avLst/>
          </a:prstGeom>
          <a:solidFill>
            <a:srgbClr val="5E8C42"/>
          </a:solidFill>
          <a:ln/>
        </p:spPr>
      </p:sp>
      <p:sp>
        <p:nvSpPr>
          <p:cNvPr id="684880791" name="Text 16"/>
          <p:cNvSpPr/>
          <p:nvPr/>
        </p:nvSpPr>
        <p:spPr bwMode="auto">
          <a:xfrm>
            <a:off x="6766560" y="41788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>
                <a:solidFill>
                  <a:srgbClr val="D5DEC9"/>
                </a:solidFill>
                <a:latin typeface="Calibri"/>
                <a:ea typeface="Calibri"/>
                <a:cs typeface="Calibri"/>
              </a:rPr>
              <a:t>Failure is binary and permanent - no partial quality or recovery model.</a:t>
            </a:r>
            <a:endParaRPr lang="en-US" sz="1300"/>
          </a:p>
        </p:txBody>
      </p:sp>
      <p:sp>
        <p:nvSpPr>
          <p:cNvPr id="163816869" name="Shape 17"/>
          <p:cNvSpPr/>
          <p:nvPr/>
        </p:nvSpPr>
        <p:spPr bwMode="auto">
          <a:xfrm>
            <a:off x="6446520" y="5166360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39020951" name="Text 18"/>
          <p:cNvSpPr/>
          <p:nvPr/>
        </p:nvSpPr>
        <p:spPr bwMode="auto">
          <a:xfrm>
            <a:off x="6766560" y="5074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300" b="1">
                <a:solidFill>
                  <a:srgbClr val="E8F0DE"/>
                </a:solidFill>
                <a:latin typeface="Calibri"/>
                <a:ea typeface="Calibri"/>
                <a:cs typeface="Calibri"/>
              </a:rPr>
              <a:t>Next: add intervention (irrigation) -&gt; resource limits, deadlines, re-degradation.</a:t>
            </a:r>
            <a:endParaRPr lang="en-US" sz="1300"/>
          </a:p>
        </p:txBody>
      </p:sp>
      <p:sp>
        <p:nvSpPr>
          <p:cNvPr id="1036669488" name="Text 19"/>
          <p:cNvSpPr/>
          <p:nvPr/>
        </p:nvSpPr>
        <p:spPr bwMode="auto">
          <a:xfrm>
            <a:off x="868680" y="6126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Thank you  -  questions welcome</a:t>
            </a:r>
            <a:endParaRPr lang="en-US" sz="1600"/>
          </a:p>
        </p:txBody>
      </p:sp>
      <p:sp>
        <p:nvSpPr>
          <p:cNvPr id="339315567" name="Text 20"/>
          <p:cNvSpPr/>
          <p:nvPr/>
        </p:nvSpPr>
        <p:spPr bwMode="auto"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937E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Agricultural Robotics - Crop Monitoring</dc:title>
  <dc:subject>PptxGenJS Presentation</dc:subject>
  <dc:creator>AI for Robotics II</dc:creator>
  <cp:lastModifiedBy/>
  <cp:revision>4</cp:revision>
  <dcterms:created xsi:type="dcterms:W3CDTF">2026-06-19T05:41:24Z</dcterms:created>
  <dcterms:modified xsi:type="dcterms:W3CDTF">2026-06-19T06:10:42Z</dcterms:modified>
</cp:coreProperties>
</file>